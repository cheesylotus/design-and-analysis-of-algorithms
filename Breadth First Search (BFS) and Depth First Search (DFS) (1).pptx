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</ns0:sldIdLst>
  <ns0:sldSz cx="12192000" cy="6858000" type="screen4x3"/>
  <ns0:notesSz cx="6858000" cy="9144000"/>
  <ns0:embeddedFontLst>
    <ns0:embeddedFont>
      <ns0:font typeface="Inter"/>
      <ns0:bold ns1:id="rIdFont16"/>
      <ns0:regular ns1:id="rIdFont17"/>
    </ns0:embeddedFont>
    <ns0:embeddedFont>
      <ns0:font typeface="Montserrat"/>
      <ns0:bold ns1:id="rIdFont18"/>
      <ns0:regular ns1:id="rIdFont19"/>
    </ns0:embeddedFont>
    <ns0:embeddedFont>
      <ns0:font typeface="Fira Code"/>
      <ns0:bold ns1:id="rIdFont20"/>
      <ns0:regular ns1:id="rIdFont21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Font16" Type="http://schemas.openxmlformats.org/officeDocument/2006/relationships/font" Target="fonts/d797b590-0d59-4a7f-8a03-4b3bfd719535.fntdata" /><ns0:Relationship Id="rIdFont17" Type="http://schemas.openxmlformats.org/officeDocument/2006/relationships/font" Target="fonts/ab037f9a-4806-451c-ab2d-f7c6103f0ffc.fntdata" /><ns0:Relationship Id="rIdFont18" Type="http://schemas.openxmlformats.org/officeDocument/2006/relationships/font" Target="fonts/778a3e08-d79f-4109-842d-8539b0a1d1d5.fntdata" /><ns0:Relationship Id="rIdFont19" Type="http://schemas.openxmlformats.org/officeDocument/2006/relationships/font" Target="fonts/b4f28e8c-d6fa-4078-9858-0c84448c8ac7.fntdata" /><ns0:Relationship Id="rIdFont20" Type="http://schemas.openxmlformats.org/officeDocument/2006/relationships/font" Target="fonts/a9d03b34-bbca-4fe1-be6f-29eec5055696.fntdata" /><ns0:Relationship Id="rIdFont21" Type="http://schemas.openxmlformats.org/officeDocument/2006/relationships/font" Target="fonts/403a3e60-2c97-4753-b604-8f4682c62de7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5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15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43000" y="1715541"/>
            <a:ext cx="762000" cy="76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2172741"/>
            <a:ext cx="10501312" cy="13409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b="1" sz="4800" i="0" u="none">
                <a:solidFill>
                  <a:srgbClr val="F8FAFC"/>
                </a:solidFill>
                <a:latin typeface="Montserrat"/>
              </a:rPr>
              <a:t>Breadth First Search (BFS) &amp;</a:t>
            </a:r>
            <a:r>
              <a:t>
</a:t>
            </a:r>
            <a:r>
              <a:rPr b="1" sz="4800" i="0" u="none">
                <a:solidFill>
                  <a:srgbClr val="14B8A6"/>
                </a:solidFill>
                <a:latin typeface="Montserrat"/>
              </a:rPr>
              <a:t>Depth First Search (DFS)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742283"/>
            <a:ext cx="1104900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94A3B8"/>
                </a:solidFill>
                <a:latin typeface="Montserrat"/>
              </a:rPr>
              <a:t>Graph Traversal in Design and Analysis of Algorithms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09700" y="4675733"/>
            <a:ext cx="16906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Inter"/>
              </a:rPr>
              <a:t>Swarupa Shinde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09700" y="4951958"/>
            <a:ext cx="169068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94A3B8"/>
                </a:solidFill>
                <a:latin typeface="Inter"/>
              </a:rPr>
              <a:t>PRN: 25070521131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19450" y="4675733"/>
            <a:ext cx="386953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Inter"/>
              </a:rPr>
              <a:t>Division [C]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19450" y="4951958"/>
            <a:ext cx="3869531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94A3B8"/>
                </a:solidFill>
                <a:latin typeface="Inter"/>
              </a:rPr>
              <a:t>Subject: Design and Analysis of Algorithms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82250" y="6553200"/>
            <a:ext cx="180975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Inter"/>
              </a:rPr>
              <a:t>Generated using Gemini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2001440"/>
            <a:ext cx="518160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457200"/>
            <a:ext cx="5181600" cy="5943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396728"/>
            <a:ext cx="190500" cy="200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227189"/>
            <a:ext cx="190500" cy="2000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4057650"/>
            <a:ext cx="171450" cy="2000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4888110"/>
            <a:ext cx="219075" cy="2000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1382315"/>
            <a:ext cx="5540692" cy="504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Montserrat"/>
              </a:rPr>
              <a:t>Graph Traversal Basics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3312" y="5253037"/>
            <a:ext cx="384571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64748B"/>
                </a:solidFill>
                <a:latin typeface="Inter"/>
              </a:rPr>
              <a:t>Standard Undirected Graph G = (V, 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2344340"/>
            <a:ext cx="4933950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1800" i="0" u="none">
                <a:solidFill>
                  <a:srgbClr val="0F172A"/>
                </a:solidFill>
                <a:latin typeface="Inter"/>
              </a:rPr>
              <a:t>Graph Structure:</a:t>
            </a:r>
            <a:r>
              <a:rPr b="0" sz="1800" i="0" u="none">
                <a:solidFill>
                  <a:srgbClr val="1E293B"/>
                </a:solidFill>
                <a:latin typeface="Inter"/>
              </a:rPr>
              <a:t> Collection of connected vertices (nodes) and edges.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500" y="3174801"/>
            <a:ext cx="4933950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1800" i="0" u="none">
                <a:solidFill>
                  <a:srgbClr val="0F172A"/>
                </a:solidFill>
                <a:latin typeface="Inter"/>
              </a:rPr>
              <a:t>Traversal Definition:</a:t>
            </a:r>
            <a:r>
              <a:rPr b="0" sz="1800" i="0" u="none">
                <a:solidFill>
                  <a:srgbClr val="1E293B"/>
                </a:solidFill>
                <a:latin typeface="Inter"/>
              </a:rPr>
              <a:t> Systematic process of visiting every graph vertex.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3450" y="4005262"/>
            <a:ext cx="4953000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1800" i="0" u="none">
                <a:solidFill>
                  <a:srgbClr val="0F172A"/>
                </a:solidFill>
                <a:latin typeface="Inter"/>
              </a:rPr>
              <a:t>Core Algorithms:</a:t>
            </a:r>
            <a:r>
              <a:rPr b="0" sz="1800" i="0" u="none">
                <a:solidFill>
                  <a:srgbClr val="1E293B"/>
                </a:solidFill>
                <a:latin typeface="Inter"/>
              </a:rPr>
              <a:t> BFS and DFS form the foundation of graph searching.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1075" y="4835723"/>
            <a:ext cx="4905375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1800" i="0" u="none">
                <a:solidFill>
                  <a:srgbClr val="0F172A"/>
                </a:solidFill>
                <a:latin typeface="Inter"/>
              </a:rPr>
              <a:t>Goal:</a:t>
            </a:r>
            <a:r>
              <a:rPr b="0" sz="1800" i="0" u="none">
                <a:solidFill>
                  <a:srgbClr val="1E293B"/>
                </a:solidFill>
                <a:latin typeface="Inter"/>
              </a:rPr>
              <a:t> Discover paths, components, or specific target nodes.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82250" y="6553200"/>
            <a:ext cx="180975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975" i="0" u="none">
                <a:solidFill>
                  <a:srgbClr val="0F172A"/>
                </a:solidFill>
                <a:latin typeface="Inter"/>
              </a:rPr>
              <a:t>Generated using Gemini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2394793"/>
            <a:ext cx="518160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457200"/>
            <a:ext cx="5181600" cy="5943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790080"/>
            <a:ext cx="219075" cy="200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620541"/>
            <a:ext cx="219075" cy="2000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4131022"/>
            <a:ext cx="171450" cy="2000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4961483"/>
            <a:ext cx="190500" cy="2000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1308943"/>
            <a:ext cx="5540692" cy="971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Montserrat"/>
              </a:rPr>
              <a:t>Breadth First Search (BFS)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77125" y="5253037"/>
            <a:ext cx="37861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64748B"/>
                </a:solidFill>
                <a:latin typeface="Inter"/>
              </a:rPr>
              <a:t>Visual: Expanding Level 1 Neighbors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075" y="2737693"/>
            <a:ext cx="4905375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1800" i="0" u="none">
                <a:solidFill>
                  <a:srgbClr val="0F172A"/>
                </a:solidFill>
                <a:latin typeface="Inter"/>
              </a:rPr>
              <a:t>Exploration Strategy:</a:t>
            </a:r>
            <a:r>
              <a:rPr b="0" sz="1800" i="0" u="none">
                <a:solidFill>
                  <a:srgbClr val="1E293B"/>
                </a:solidFill>
                <a:latin typeface="Inter"/>
              </a:rPr>
              <a:t> Scans graph level by level.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1075" y="3568154"/>
            <a:ext cx="5774531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1800" i="0" u="none">
                <a:solidFill>
                  <a:srgbClr val="0F172A"/>
                </a:solidFill>
                <a:latin typeface="Inter"/>
              </a:rPr>
              <a:t>Data Structure:</a:t>
            </a:r>
            <a:r>
              <a:rPr b="0" sz="1800" i="0" u="none">
                <a:solidFill>
                  <a:srgbClr val="1E293B"/>
                </a:solidFill>
                <a:latin typeface="Inter"/>
              </a:rPr>
              <a:t> Queue (First-In, First-Out).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3450" y="4078634"/>
            <a:ext cx="4953000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1800" i="0" u="none">
                <a:solidFill>
                  <a:srgbClr val="0F172A"/>
                </a:solidFill>
                <a:latin typeface="Inter"/>
              </a:rPr>
              <a:t>Visited Tracking:</a:t>
            </a:r>
            <a:r>
              <a:rPr b="0" sz="1800" i="0" u="none">
                <a:solidFill>
                  <a:srgbClr val="1E293B"/>
                </a:solidFill>
                <a:latin typeface="Inter"/>
              </a:rPr>
              <a:t> Marks nodes to prevent infinite cycles.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500" y="4909095"/>
            <a:ext cx="4933950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1800" i="0" u="none">
                <a:solidFill>
                  <a:srgbClr val="0F172A"/>
                </a:solidFill>
                <a:latin typeface="Inter"/>
              </a:rPr>
              <a:t>Source Vertex:</a:t>
            </a:r>
            <a:r>
              <a:rPr b="0" sz="1800" i="0" u="none">
                <a:solidFill>
                  <a:srgbClr val="1E293B"/>
                </a:solidFill>
                <a:latin typeface="Inter"/>
              </a:rPr>
              <a:t> Execution begins from a defined root.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82250" y="6553200"/>
            <a:ext cx="180975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975" i="0" u="none">
                <a:solidFill>
                  <a:srgbClr val="0F172A"/>
                </a:solidFill>
                <a:latin typeface="Inter"/>
              </a:rPr>
              <a:t>Generated using Gemini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1076325"/>
            <a:ext cx="6391275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1343025"/>
            <a:ext cx="5756523" cy="3562350"/>
          </a:xfrm>
          <a:prstGeom prst="roundRect">
            <a:avLst>
              <a:gd name="adj" fmla="val 3208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5286375"/>
            <a:ext cx="5756523" cy="819150"/>
          </a:xfrm>
          <a:prstGeom prst="roundRect">
            <a:avLst>
              <a:gd name="adj" fmla="val 9302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59712" y="4786312"/>
            <a:ext cx="3409950" cy="581025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981200" y="5438775"/>
            <a:ext cx="609600" cy="5143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667000" y="5438775"/>
            <a:ext cx="609600" cy="5143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352800" y="5438775"/>
            <a:ext cx="609600" cy="5143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7123" y="1343025"/>
            <a:ext cx="4835276" cy="4762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6810851" cy="504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Montserrat"/>
              </a:rPr>
              <a:t>BFS Algorithm &amp; Traversal Trace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1571625"/>
            <a:ext cx="5394573" cy="3105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F8FAFC"/>
                </a:solidFill>
                <a:latin typeface="Fira Code"/>
              </a:rPr>
              <a:t>BFS(G, start_node): queue = empty Queue queue.enqueue(start_node) mark start_node as visited while queue is not empty: current = queue.dequeue() print current for neighbor in G.adj[current]: if neighbor not visited: mark neighbor as visited queue.enqueue(neighbor)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64512" y="4938712"/>
            <a:ext cx="289560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FFFFF"/>
                </a:solidFill>
                <a:latin typeface="Montserrat"/>
              </a:rPr>
              <a:t>A → B → C → D → E → 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5595937"/>
            <a:ext cx="14287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64748B"/>
                </a:solidFill>
                <a:latin typeface="Fira Code"/>
              </a:rPr>
              <a:t>Queue state: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09800" y="5553075"/>
            <a:ext cx="2476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Fira Code"/>
              </a:rPr>
              <a:t>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95600" y="5553075"/>
            <a:ext cx="2476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Fira Code"/>
              </a:rPr>
              <a:t>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1400" y="5553075"/>
            <a:ext cx="2476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Fira Code"/>
              </a:rPr>
              <a:t>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38600" y="5595937"/>
            <a:ext cx="7239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Fira Code"/>
              </a:rPr>
              <a:t>← 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2250" y="6553200"/>
            <a:ext cx="180975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975" i="0" u="none">
                <a:solidFill>
                  <a:srgbClr val="0F172A"/>
                </a:solidFill>
                <a:latin typeface="Inter"/>
              </a:rPr>
              <a:t>Generated using Gemini 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2001440"/>
            <a:ext cx="518160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457200"/>
            <a:ext cx="5181600" cy="5943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396728"/>
            <a:ext cx="142875" cy="200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227189"/>
            <a:ext cx="219075" cy="2000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4057650"/>
            <a:ext cx="190500" cy="2000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4888110"/>
            <a:ext cx="238125" cy="2000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1382315"/>
            <a:ext cx="5540692" cy="504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Montserrat"/>
              </a:rPr>
              <a:t>Depth First Search (DFS)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24700" y="5248275"/>
            <a:ext cx="466725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64748B"/>
                </a:solidFill>
                <a:latin typeface="Inter"/>
              </a:rPr>
              <a:t>Visual: Deep branch exploration (A → B → 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4875" y="2344340"/>
            <a:ext cx="4981575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1800" i="0" u="none">
                <a:solidFill>
                  <a:srgbClr val="0F172A"/>
                </a:solidFill>
                <a:latin typeface="Inter"/>
              </a:rPr>
              <a:t>Exploration Strategy:</a:t>
            </a:r>
            <a:r>
              <a:rPr b="0" sz="1800" i="0" u="none">
                <a:solidFill>
                  <a:srgbClr val="1E293B"/>
                </a:solidFill>
                <a:latin typeface="Inter"/>
              </a:rPr>
              <a:t> Dives deep into one branch before backtracking.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1075" y="3174801"/>
            <a:ext cx="4905375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1800" i="0" u="none">
                <a:solidFill>
                  <a:srgbClr val="0F172A"/>
                </a:solidFill>
                <a:latin typeface="Inter"/>
              </a:rPr>
              <a:t>Data Structure:</a:t>
            </a:r>
            <a:r>
              <a:rPr b="0" sz="1800" i="0" u="none">
                <a:solidFill>
                  <a:srgbClr val="1E293B"/>
                </a:solidFill>
                <a:latin typeface="Inter"/>
              </a:rPr>
              <a:t> Stack (Last-In, First-Out) or Recursion.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500" y="4005262"/>
            <a:ext cx="4933950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1800" i="0" u="none">
                <a:solidFill>
                  <a:srgbClr val="0F172A"/>
                </a:solidFill>
                <a:latin typeface="Inter"/>
              </a:rPr>
              <a:t>Backtracking:</a:t>
            </a:r>
            <a:r>
              <a:rPr b="0" sz="1800" i="0" u="none">
                <a:solidFill>
                  <a:srgbClr val="1E293B"/>
                </a:solidFill>
                <a:latin typeface="Inter"/>
              </a:rPr>
              <a:t> Returns to previous node when dead-end is reached.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0125" y="4835723"/>
            <a:ext cx="4886325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1800" i="0" u="none">
                <a:solidFill>
                  <a:srgbClr val="0F172A"/>
                </a:solidFill>
                <a:latin typeface="Inter"/>
              </a:rPr>
              <a:t>Visited Tracking:</a:t>
            </a:r>
            <a:r>
              <a:rPr b="0" sz="1800" i="0" u="none">
                <a:solidFill>
                  <a:srgbClr val="1E293B"/>
                </a:solidFill>
                <a:latin typeface="Inter"/>
              </a:rPr>
              <a:t> Essential to prevent infinite looping.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82250" y="6553200"/>
            <a:ext cx="180975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975" i="0" u="none">
                <a:solidFill>
                  <a:srgbClr val="0F172A"/>
                </a:solidFill>
                <a:latin typeface="Inter"/>
              </a:rPr>
              <a:t>Generated using Gemini 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1076325"/>
            <a:ext cx="6410325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1343025"/>
            <a:ext cx="5756523" cy="2276475"/>
          </a:xfrm>
          <a:prstGeom prst="roundRect">
            <a:avLst>
              <a:gd name="adj" fmla="val 502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459712" y="4786312"/>
            <a:ext cx="3409950" cy="581025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3848100"/>
            <a:ext cx="1143000" cy="2257425"/>
          </a:xfrm>
          <a:prstGeom prst="roundRect">
            <a:avLst>
              <a:gd name="adj" fmla="val 6666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62000" y="4257675"/>
            <a:ext cx="838200" cy="5143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2000" y="4848225"/>
            <a:ext cx="838200" cy="5143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62000" y="5438775"/>
            <a:ext cx="838200" cy="5143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7123" y="1343025"/>
            <a:ext cx="4835276" cy="4762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6830853" cy="504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Montserrat"/>
              </a:rPr>
              <a:t>DFS Algorithm &amp; Traversal Trace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1571625"/>
            <a:ext cx="5394573" cy="1819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F8FAFC"/>
                </a:solidFill>
                <a:latin typeface="Fira Code"/>
              </a:rPr>
              <a:t>DFS(node, visited_set): if node not in visited_set: print node add node to visited_set for neighbor in G.adj[node]: DFS(neighbor, visited_set) // Initial call: DFS(A, empty_set)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64512" y="4938712"/>
            <a:ext cx="289560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FFFFF"/>
                </a:solidFill>
                <a:latin typeface="Montserrat"/>
              </a:rPr>
              <a:t>A → B → D → E → C → 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5076825"/>
            <a:ext cx="2476500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64748B"/>
                </a:solidFill>
                <a:latin typeface="Inter"/>
              </a:rPr>
              <a:t>Recursive calls mimic Stack (LIFO) behavior. Backtracking occurs at leaves (D, E, F).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" y="4000500"/>
            <a:ext cx="10477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Fira Code"/>
              </a:rPr>
              <a:t>Call Stack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4371975"/>
            <a:ext cx="6667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Fira Code"/>
              </a:rPr>
              <a:t>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4962525"/>
            <a:ext cx="6667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Fira Code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725" y="5553075"/>
            <a:ext cx="6667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Fira Code"/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2250" y="6553200"/>
            <a:ext cx="180975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975" i="0" u="none">
                <a:solidFill>
                  <a:srgbClr val="0F172A"/>
                </a:solidFill>
                <a:latin typeface="Inter"/>
              </a:rPr>
              <a:t>Generated using Gemini 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1076325"/>
            <a:ext cx="1097280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9600" y="1647825"/>
          <a:ext cx="10953749" cy="335280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646461"/>
                <a:gridCol w="4070449"/>
                <a:gridCol w="4236839"/>
              </a:tblGrid>
              <a:tr h="558800"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FFFFFF"/>
                          </a:solidFill>
                          <a:latin typeface="Inter"/>
                        </a:rPr>
                        <a:t>Parameter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14B8A6"/>
                          </a:solidFill>
                          <a:latin typeface="Inter"/>
                        </a:rPr>
                        <a:t>Breadth First Search (BFS)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38BDF8"/>
                          </a:solidFill>
                          <a:latin typeface="Inter"/>
                        </a:rPr>
                        <a:t>Depth First Search (DFS)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1E293B"/>
                          </a:solidFill>
                          <a:latin typeface="Inter"/>
                        </a:rPr>
                        <a:t>Traversal Approach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1E293B"/>
                          </a:solidFill>
                          <a:latin typeface="Inter"/>
                        </a:rPr>
                        <a:t>Level by level (Horizontal)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1E293B"/>
                          </a:solidFill>
                          <a:latin typeface="Inter"/>
                        </a:rPr>
                        <a:t>Deepest branch first (Vertical)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1E293B"/>
                          </a:solidFill>
                          <a:latin typeface="Inter"/>
                        </a:rPr>
                        <a:t>Data Structure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1E293B"/>
                          </a:solidFill>
                          <a:latin typeface="Inter"/>
                        </a:rPr>
                        <a:t>Queue (FIFO)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1E293B"/>
                          </a:solidFill>
                          <a:latin typeface="Inter"/>
                        </a:rPr>
                        <a:t>Stack (LIFO) or Recursion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1E293B"/>
                          </a:solidFill>
                          <a:latin typeface="Inter"/>
                        </a:rPr>
                        <a:t>Shortest Path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1E293B"/>
                          </a:solidFill>
                          <a:latin typeface="Inter"/>
                        </a:rPr>
                        <a:t>Optimal for unweighted graphs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1E293B"/>
                          </a:solidFill>
                          <a:latin typeface="Inter"/>
                        </a:rPr>
                        <a:t>Does not guarantee shortest path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1E293B"/>
                          </a:solidFill>
                          <a:latin typeface="Inter"/>
                        </a:rPr>
                        <a:t>Memory Usage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1E293B"/>
                          </a:solidFill>
                          <a:latin typeface="Inter"/>
                        </a:rPr>
                        <a:t>High (Stores entire level widths)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1E293B"/>
                          </a:solidFill>
                          <a:latin typeface="Inter"/>
                        </a:rPr>
                        <a:t>Low (Stores single path depth)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1E293B"/>
                          </a:solidFill>
                          <a:latin typeface="Inter"/>
                        </a:rPr>
                        <a:t>Time Complexity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i="0" u="none">
                          <a:solidFill>
                            <a:srgbClr val="1E293B"/>
                          </a:solidFill>
                          <a:latin typeface="Fira Code"/>
                        </a:rPr>
                        <a:t>O(V + E) using Adjacency List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09600" y="457200"/>
            <a:ext cx="11582400" cy="504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Montserrat"/>
              </a:rPr>
              <a:t>BFS vs DFS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-381000" y="5229225"/>
            <a:ext cx="12954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64748B"/>
                </a:solidFill>
                <a:latin typeface="Inter"/>
              </a:rPr>
              <a:t>*V = Number of Vertices, E = Number of Edges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82250" y="6553200"/>
            <a:ext cx="180975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975" i="0" u="none">
                <a:solidFill>
                  <a:srgbClr val="0F172A"/>
                </a:solidFill>
                <a:latin typeface="Inter"/>
              </a:rPr>
              <a:t>Generated using Gemini AI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1076325"/>
            <a:ext cx="499110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1571625"/>
            <a:ext cx="5257800" cy="5943600"/>
          </a:xfrm>
          <a:prstGeom prst="roundRect">
            <a:avLst>
              <a:gd name="adj" fmla="val 217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324600" y="1571625"/>
            <a:ext cx="5257800" cy="5943600"/>
          </a:xfrm>
          <a:prstGeom prst="roundRect">
            <a:avLst>
              <a:gd name="adj" fmla="val 217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7496175"/>
            <a:ext cx="52578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1571625"/>
            <a:ext cx="5257800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1571625"/>
            <a:ext cx="19050" cy="59436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848350" y="1571625"/>
            <a:ext cx="19050" cy="59436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24600" y="7496175"/>
            <a:ext cx="52578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24600" y="1571625"/>
            <a:ext cx="5257800" cy="571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24600" y="1571625"/>
            <a:ext cx="19050" cy="59436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563350" y="1571625"/>
            <a:ext cx="19050" cy="59436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450" y="2038350"/>
            <a:ext cx="304800" cy="2667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450" y="2038350"/>
            <a:ext cx="200025" cy="2667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450" y="2690812"/>
            <a:ext cx="219075" cy="2000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450" y="3521273"/>
            <a:ext cx="238125" cy="2000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" y="4351734"/>
            <a:ext cx="219075" cy="2000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3450" y="5182195"/>
            <a:ext cx="238125" cy="2000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8450" y="2690812"/>
            <a:ext cx="190500" cy="2000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48450" y="3521273"/>
            <a:ext cx="219075" cy="2000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48450" y="4351734"/>
            <a:ext cx="190500" cy="2000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48450" y="5182195"/>
            <a:ext cx="219075" cy="20002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09600" y="457200"/>
            <a:ext cx="5340667" cy="504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Montserrat"/>
              </a:rPr>
              <a:t>Algorithmic Applications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90650" y="2009775"/>
            <a:ext cx="5570696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Montserrat"/>
              </a:rPr>
              <a:t>BFS Applications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00875" y="2009775"/>
            <a:ext cx="5191125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Montserrat"/>
              </a:rPr>
              <a:t>DFS Applications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04925" y="2638425"/>
            <a:ext cx="4333875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1800" i="0" u="none">
                <a:solidFill>
                  <a:srgbClr val="0F172A"/>
                </a:solidFill>
                <a:latin typeface="Inter"/>
              </a:rPr>
              <a:t>Shortest Paths:</a:t>
            </a:r>
            <a:r>
              <a:rPr b="0" sz="1800" i="0" u="none">
                <a:solidFill>
                  <a:srgbClr val="1E293B"/>
                </a:solidFill>
                <a:latin typeface="Inter"/>
              </a:rPr>
              <a:t> Finding optimal routes in unweighted graphs.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3975" y="3468885"/>
            <a:ext cx="4314825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1800" i="0" u="none">
                <a:solidFill>
                  <a:srgbClr val="0F172A"/>
                </a:solidFill>
                <a:latin typeface="Inter"/>
              </a:rPr>
              <a:t>Social Networks:</a:t>
            </a:r>
            <a:r>
              <a:rPr b="0" sz="1800" i="0" u="none">
                <a:solidFill>
                  <a:srgbClr val="1E293B"/>
                </a:solidFill>
                <a:latin typeface="Inter"/>
              </a:rPr>
              <a:t> "People you may know" or 6-degrees separation.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04925" y="4299346"/>
            <a:ext cx="4333875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1800" i="0" u="none">
                <a:solidFill>
                  <a:srgbClr val="0F172A"/>
                </a:solidFill>
                <a:latin typeface="Inter"/>
              </a:rPr>
              <a:t>Tree Traversal:</a:t>
            </a:r>
            <a:r>
              <a:rPr b="0" sz="1800" i="0" u="none">
                <a:solidFill>
                  <a:srgbClr val="1E293B"/>
                </a:solidFill>
                <a:latin typeface="Inter"/>
              </a:rPr>
              <a:t> Level-order processing in hierarchical data.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3975" y="5129807"/>
            <a:ext cx="4314825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1800" i="0" u="none">
                <a:solidFill>
                  <a:srgbClr val="0F172A"/>
                </a:solidFill>
                <a:latin typeface="Inter"/>
              </a:rPr>
              <a:t>Broadcasting:</a:t>
            </a:r>
            <a:r>
              <a:rPr b="0" sz="1800" i="0" u="none">
                <a:solidFill>
                  <a:srgbClr val="1E293B"/>
                </a:solidFill>
                <a:latin typeface="Inter"/>
              </a:rPr>
              <a:t> Packet routing in peer-to-peer networks.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1350" y="2638425"/>
            <a:ext cx="4362450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1800" i="0" u="none">
                <a:solidFill>
                  <a:srgbClr val="0F172A"/>
                </a:solidFill>
                <a:latin typeface="Inter"/>
              </a:rPr>
              <a:t>Cycle Detection:</a:t>
            </a:r>
            <a:r>
              <a:rPr b="0" sz="1800" i="0" u="none">
                <a:solidFill>
                  <a:srgbClr val="1E293B"/>
                </a:solidFill>
                <a:latin typeface="Inter"/>
              </a:rPr>
              <a:t> Identifying infinite loops in graphs.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19925" y="3468885"/>
            <a:ext cx="4333875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1800" i="0" u="none">
                <a:solidFill>
                  <a:srgbClr val="0F172A"/>
                </a:solidFill>
                <a:latin typeface="Inter"/>
              </a:rPr>
              <a:t>Topological Sorting:</a:t>
            </a:r>
            <a:r>
              <a:rPr b="0" sz="1800" i="0" u="none">
                <a:solidFill>
                  <a:srgbClr val="1E293B"/>
                </a:solidFill>
                <a:latin typeface="Inter"/>
              </a:rPr>
              <a:t> Task scheduling and dependency resolution.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1350" y="4299346"/>
            <a:ext cx="4362450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1800" i="0" u="none">
                <a:solidFill>
                  <a:srgbClr val="0F172A"/>
                </a:solidFill>
                <a:latin typeface="Inter"/>
              </a:rPr>
              <a:t>Maze Solving:</a:t>
            </a:r>
            <a:r>
              <a:rPr b="0" sz="1800" i="0" u="none">
                <a:solidFill>
                  <a:srgbClr val="1E293B"/>
                </a:solidFill>
                <a:latin typeface="Inter"/>
              </a:rPr>
              <a:t> Backtracking algorithms to find viable paths.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19925" y="5129807"/>
            <a:ext cx="4333875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1800" i="0" u="none">
                <a:solidFill>
                  <a:srgbClr val="0F172A"/>
                </a:solidFill>
                <a:latin typeface="Inter"/>
              </a:rPr>
              <a:t>Connected Components:</a:t>
            </a:r>
            <a:r>
              <a:rPr b="0" sz="1800" i="0" u="none">
                <a:solidFill>
                  <a:srgbClr val="1E293B"/>
                </a:solidFill>
                <a:latin typeface="Inter"/>
              </a:rPr>
              <a:t> Grouping isolated sub-graphs.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82250" y="6553200"/>
            <a:ext cx="180975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975" i="0" u="none">
                <a:solidFill>
                  <a:srgbClr val="0F172A"/>
                </a:solidFill>
                <a:latin typeface="Inter"/>
              </a:rPr>
              <a:t>Generated using Gemini AI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67200" y="1649908"/>
            <a:ext cx="365760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295400" y="2145208"/>
            <a:ext cx="3048000" cy="2158007"/>
          </a:xfrm>
          <a:prstGeom prst="roundRect">
            <a:avLst>
              <a:gd name="adj" fmla="val 5296"/>
            </a:avLst>
          </a:prstGeom>
          <a:solidFill>
            <a:srgbClr val="1B2335"/>
          </a:solidFill>
          <a:ln w="9525">
            <a:solidFill>
              <a:srgbClr val="272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0" y="2145208"/>
            <a:ext cx="3048000" cy="2158007"/>
          </a:xfrm>
          <a:prstGeom prst="roundRect">
            <a:avLst>
              <a:gd name="adj" fmla="val 5296"/>
            </a:avLst>
          </a:prstGeom>
          <a:solidFill>
            <a:srgbClr val="1B2335"/>
          </a:solidFill>
          <a:ln w="9525">
            <a:solidFill>
              <a:srgbClr val="272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848600" y="2145208"/>
            <a:ext cx="3048000" cy="2158007"/>
          </a:xfrm>
          <a:prstGeom prst="roundRect">
            <a:avLst>
              <a:gd name="adj" fmla="val 5296"/>
            </a:avLst>
          </a:prstGeom>
          <a:solidFill>
            <a:srgbClr val="1B2335"/>
          </a:solidFill>
          <a:ln w="9525">
            <a:solidFill>
              <a:srgbClr val="272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7950" y="2459533"/>
            <a:ext cx="3429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1700" y="2459533"/>
            <a:ext cx="228600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9250" y="2459533"/>
            <a:ext cx="266700" cy="30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95700" y="945058"/>
            <a:ext cx="4800600" cy="590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F8FAFC"/>
                </a:solidFill>
                <a:latin typeface="Montserrat"/>
              </a:rPr>
              <a:t>Key Takeaways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52007" y="4912816"/>
            <a:ext cx="3887985" cy="647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200" i="0" u="none">
                <a:solidFill>
                  <a:srgbClr val="14B8A6"/>
                </a:solidFill>
                <a:latin typeface="Montserrat"/>
              </a:rPr>
              <a:t>Thank You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33812" y="5712916"/>
            <a:ext cx="45243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64748B"/>
                </a:solidFill>
                <a:latin typeface="Fira Code"/>
              </a:rPr>
              <a:t>Standard DAA graph traversal concepts.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1701" y="2916733"/>
            <a:ext cx="3175396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F8FAFC"/>
                </a:solidFill>
                <a:latin typeface="Montserrat"/>
              </a:rPr>
              <a:t>BFS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07306" y="3269158"/>
            <a:ext cx="3024187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b="0" sz="1350" i="0" u="none">
                <a:solidFill>
                  <a:srgbClr val="94A3B8"/>
                </a:solidFill>
                <a:latin typeface="Inter"/>
              </a:rPr>
              <a:t>Explores horizontally (Queue). Best for shortest paths.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8301" y="2916733"/>
            <a:ext cx="3175396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F8FAFC"/>
                </a:solidFill>
                <a:latin typeface="Montserrat"/>
              </a:rPr>
              <a:t>DFS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3906" y="3269158"/>
            <a:ext cx="3024187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b="0" sz="1350" i="0" u="none">
                <a:solidFill>
                  <a:srgbClr val="94A3B8"/>
                </a:solidFill>
                <a:latin typeface="Inter"/>
              </a:rPr>
              <a:t>Explores vertically (Stack). Best for cycles and backtracking.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84901" y="2916733"/>
            <a:ext cx="3175396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F8FAFC"/>
                </a:solidFill>
                <a:latin typeface="Montserrat"/>
              </a:rPr>
              <a:t>O(V + 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0506" y="3269158"/>
            <a:ext cx="3024187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b="0" sz="1350" i="0" u="none">
                <a:solidFill>
                  <a:srgbClr val="94A3B8"/>
                </a:solidFill>
                <a:latin typeface="Inter"/>
              </a:rPr>
              <a:t>Fundamental traversal bounds for algorithm design.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77462" y="6553200"/>
            <a:ext cx="1990725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Inter"/>
              </a:rPr>
              <a:t>Generated using Gemini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